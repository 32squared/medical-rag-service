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통과율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B2E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2A4A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7D3B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5C5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2A65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증상 도달</c:v>
                  </c:pt>
                  <c:pt idx="1">
                    <c:v>진료과 일치</c:v>
                  </c:pt>
                  <c:pt idx="2">
                    <c:v>구어체 도달</c:v>
                  </c:pt>
                  <c:pt idx="3">
                    <c:v>안전 게이트</c:v>
                  </c:pt>
                  <c:pt idx="4">
                    <c:v>intent 분류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B2E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0B2E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9E5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F4F7F6"/>
        </a:solidFill>
        <a:ln>
          <a:noFill/>
        </a:ln>
        <a:effectLst/>
      </c:spPr>
    </c:plotArea>
    <c:plotVisOnly val="1"/>
    <c:dispBlanksAs val="span"/>
  </c:chart>
  <c:spPr>
    <a:solidFill>
      <a:srgbClr val="F4F7F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solidFill>
            <a:srgbClr val="123E48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0"/>
            <a:ext cx="3474720" cy="34747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1005840"/>
            <a:ext cx="1645920" cy="1645920"/>
          </a:xfrm>
          <a:prstGeom prst="ellipse">
            <a:avLst/>
          </a:prstGeom>
          <a:solidFill>
            <a:srgbClr val="27D3B5"/>
          </a:solidFill>
          <a:ln/>
        </p:spPr>
      </p:sp>
      <p:sp>
        <p:nvSpPr>
          <p:cNvPr id="5" name="Shape 3"/>
          <p:cNvSpPr/>
          <p:nvPr/>
        </p:nvSpPr>
        <p:spPr>
          <a:xfrm>
            <a:off x="11356848" y="1481328"/>
            <a:ext cx="347472" cy="109728"/>
          </a:xfrm>
          <a:prstGeom prst="rect">
            <a:avLst/>
          </a:prstGeom>
          <a:solidFill>
            <a:srgbClr val="0B2E36"/>
          </a:solidFill>
          <a:ln/>
        </p:spPr>
      </p:sp>
      <p:sp>
        <p:nvSpPr>
          <p:cNvPr id="6" name="Shape 4"/>
          <p:cNvSpPr/>
          <p:nvPr/>
        </p:nvSpPr>
        <p:spPr>
          <a:xfrm>
            <a:off x="11475720" y="1362456"/>
            <a:ext cx="109728" cy="347472"/>
          </a:xfrm>
          <a:prstGeom prst="rect">
            <a:avLst/>
          </a:prstGeom>
          <a:solidFill>
            <a:srgbClr val="0B2E3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D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MEDICAL RAG · 투자 제안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기반 개인화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의료정보 AI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2A4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“출처 없는 의학적 주장은 한 문장도 내보내지 않는다.”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5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의료 질의응답 RAG · 의료법 준수 아키텍처 · 인용 검증 · 안전 게이트 · 개인화 컨텍스트 확장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212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D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57790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5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 커버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5212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D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606040" y="57790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5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5212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D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63440" y="57790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5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KB 출처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20840" y="5212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D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720840" y="57790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5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게이트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10896"/>
          </a:xfrm>
          <a:prstGeom prst="rect">
            <a:avLst/>
          </a:prstGeom>
          <a:solidFill>
            <a:srgbClr val="F25C54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C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LLM은 의료 답변에 그대로 쓸 수 없다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17236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109728" cy="1737360"/>
          </a:xfrm>
          <a:prstGeom prst="rect">
            <a:avLst/>
          </a:prstGeom>
          <a:solidFill>
            <a:srgbClr val="F25C5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21992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환각(hallucination)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807208"/>
            <a:ext cx="46771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그럴듯하지만 틀린 의학 정보를 자신 있게 생성. 환자 위해로 직결.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23076" y="1965960"/>
            <a:ext cx="5317236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23076" y="1965960"/>
            <a:ext cx="109728" cy="173736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1" name="Text 9"/>
          <p:cNvSpPr/>
          <p:nvPr/>
        </p:nvSpPr>
        <p:spPr>
          <a:xfrm>
            <a:off x="6688836" y="2221992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불명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88836" y="2807208"/>
            <a:ext cx="46771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“언급”할 뿐 검증되지 않음. 확률적 생성이라 추적 불가.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317236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023360"/>
            <a:ext cx="109728" cy="17373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79392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의료법 리스크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14400" y="4864608"/>
            <a:ext cx="46771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무면허 의료행위(진단·처방) 경계를 모델이 스스로 통제하지 못함.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23076" y="4023360"/>
            <a:ext cx="5317236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23076" y="4023360"/>
            <a:ext cx="109728" cy="173736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19" name="Text 17"/>
          <p:cNvSpPr/>
          <p:nvPr/>
        </p:nvSpPr>
        <p:spPr>
          <a:xfrm>
            <a:off x="6688836" y="4279392"/>
            <a:ext cx="4677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맥락 부재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688836" y="4864608"/>
            <a:ext cx="46771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복용약·기저질환·환경을 모르는 일반론만 제공.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1089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정확성을 모델이 아니라 ‘맥락·근거·안전’로 만든다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LLM과 같은 모델을 쓰더라도, 검증된 지식베이스 인용을 강제하고 안전을 코드로 통제하면 결과 카테고리가 달라진다.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483864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468880"/>
            <a:ext cx="3483864" cy="12801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88036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강제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4251960"/>
            <a:ext cx="2752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 Pack 외 근거 사용 금지. 모든 의학적 주장에 [출처] 부착 후 문장 단위 인용 커버리지를 결정적으로 검증.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2544" y="2468880"/>
            <a:ext cx="3483864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52544" y="2468880"/>
            <a:ext cx="3483864" cy="128016"/>
          </a:xfrm>
          <a:prstGeom prst="rect">
            <a:avLst/>
          </a:prstGeom>
          <a:solidFill>
            <a:srgbClr val="F25C54"/>
          </a:solidFill>
          <a:ln/>
        </p:spPr>
      </p:sp>
      <p:sp>
        <p:nvSpPr>
          <p:cNvPr id="14" name="Shape 12"/>
          <p:cNvSpPr/>
          <p:nvPr/>
        </p:nvSpPr>
        <p:spPr>
          <a:xfrm>
            <a:off x="4718304" y="2880360"/>
            <a:ext cx="640080" cy="640080"/>
          </a:xfrm>
          <a:prstGeom prst="ellipse">
            <a:avLst/>
          </a:prstGeom>
          <a:solidFill>
            <a:srgbClr val="F25C54"/>
          </a:solidFill>
          <a:ln/>
        </p:spPr>
      </p:sp>
      <p:sp>
        <p:nvSpPr>
          <p:cNvPr id="15" name="Text 13"/>
          <p:cNvSpPr/>
          <p:nvPr/>
        </p:nvSpPr>
        <p:spPr>
          <a:xfrm>
            <a:off x="4718304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18304" y="370332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아키텍처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718304" y="4251960"/>
            <a:ext cx="2752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진단·처방 금지, 응급 119 / 위기 109 게이트를 LLM이 아닌 규칙으로 강제. 안심 단정 금지, 보수 방향만 허용.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56448" y="2468880"/>
            <a:ext cx="3483864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56448" y="2468880"/>
            <a:ext cx="3483864" cy="128016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20" name="Shape 18"/>
          <p:cNvSpPr/>
          <p:nvPr/>
        </p:nvSpPr>
        <p:spPr>
          <a:xfrm>
            <a:off x="8522208" y="2880360"/>
            <a:ext cx="640080" cy="640080"/>
          </a:xfrm>
          <a:prstGeom prst="ellipse">
            <a:avLst/>
          </a:prstGeom>
          <a:solidFill>
            <a:srgbClr val="12A4A4"/>
          </a:solidFill>
          <a:ln/>
        </p:spPr>
      </p:sp>
      <p:sp>
        <p:nvSpPr>
          <p:cNvPr id="21" name="Text 19"/>
          <p:cNvSpPr/>
          <p:nvPr/>
        </p:nvSpPr>
        <p:spPr>
          <a:xfrm>
            <a:off x="8522208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522208" y="370332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 컨텍스트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522208" y="4251960"/>
            <a:ext cx="2752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증상·복용약·환경을 검색 필터와 규칙 판정으로 반영. 범용 LLM이 가질 수 없는 ‘내 상황’의 근거.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1089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특징 1 /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검색·생성 파이프라인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20824"/>
            <a:ext cx="237744" cy="237744"/>
          </a:xfrm>
          <a:prstGeom prst="ellipse">
            <a:avLst/>
          </a:prstGeom>
          <a:solidFill>
            <a:srgbClr val="27D3B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65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Hybrid Search + RRF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3317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pgvector 코사인(dense) + tsvector BM25(sparse)를 Reciprocal Rank Fusion으로 융합.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99816"/>
            <a:ext cx="237744" cy="237744"/>
          </a:xfrm>
          <a:prstGeom prst="ellipse">
            <a:avLst/>
          </a:prstGeom>
          <a:solidFill>
            <a:srgbClr val="27D3B5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04495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 안전 부스팅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341071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red-flag ×1.3, 한국 출처 ×1.15, evidence_topic 정렬로 무관 청크 차단.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27D3B5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12394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 Pack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448970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우선순위(KDCA·DUR·지침 &gt; 논문) 적용, 근거 0건이면 insufficient 모드.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257800"/>
            <a:ext cx="237744" cy="237744"/>
          </a:xfrm>
          <a:prstGeom prst="ellipse">
            <a:avLst/>
          </a:prstGeom>
          <a:solidFill>
            <a:srgbClr val="27D3B5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0293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검증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556869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후 문장 단위 claim 인용 커버리지를 검증, 미달 시 재생성.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66560" y="1874520"/>
            <a:ext cx="4873752" cy="4160520"/>
          </a:xfrm>
          <a:prstGeom prst="rect">
            <a:avLst/>
          </a:prstGeom>
          <a:solidFill>
            <a:srgbClr val="0B2E36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2320" y="2103120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END-TO-END 파이프라인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32320" y="2606040"/>
            <a:ext cx="4142232" cy="329184"/>
          </a:xfrm>
          <a:prstGeom prst="roundRect">
            <a:avLst>
              <a:gd name="adj" fmla="val 16667"/>
            </a:avLst>
          </a:prstGeom>
          <a:solidFill>
            <a:srgbClr val="123E48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260604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PII 마스킹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32320" y="2971800"/>
            <a:ext cx="4142232" cy="329184"/>
          </a:xfrm>
          <a:prstGeom prst="roundRect">
            <a:avLst>
              <a:gd name="adj" fmla="val 16667"/>
            </a:avLst>
          </a:prstGeom>
          <a:solidFill>
            <a:srgbClr val="123E48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297180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질문 분류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132320" y="3337560"/>
            <a:ext cx="4142232" cy="329184"/>
          </a:xfrm>
          <a:prstGeom prst="roundRect">
            <a:avLst>
              <a:gd name="adj" fmla="val 16667"/>
            </a:avLst>
          </a:prstGeom>
          <a:solidFill>
            <a:srgbClr val="F25C54"/>
          </a:solidFill>
          <a:ln w="9525">
            <a:solidFill>
              <a:srgbClr val="F25C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333756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안전 사전점검 (위기·응급 분기)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132320" y="3703320"/>
            <a:ext cx="4142232" cy="329184"/>
          </a:xfrm>
          <a:prstGeom prst="roundRect">
            <a:avLst>
              <a:gd name="adj" fmla="val 16667"/>
            </a:avLst>
          </a:prstGeom>
          <a:solidFill>
            <a:srgbClr val="123E48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370332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출처 라우팅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132320" y="4069080"/>
            <a:ext cx="4142232" cy="329184"/>
          </a:xfrm>
          <a:prstGeom prst="roundRect">
            <a:avLst>
              <a:gd name="adj" fmla="val 16667"/>
            </a:avLst>
          </a:prstGeom>
          <a:solidFill>
            <a:srgbClr val="123E48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406908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 Hybrid 검색 + 부스팅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132320" y="4434840"/>
            <a:ext cx="4142232" cy="329184"/>
          </a:xfrm>
          <a:prstGeom prst="roundRect">
            <a:avLst>
              <a:gd name="adj" fmla="val 16667"/>
            </a:avLst>
          </a:prstGeom>
          <a:solidFill>
            <a:srgbClr val="123E48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443484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 Evidence Pack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132320" y="4800600"/>
            <a:ext cx="4142232" cy="329184"/>
          </a:xfrm>
          <a:prstGeom prst="roundRect">
            <a:avLst>
              <a:gd name="adj" fmla="val 16667"/>
            </a:avLst>
          </a:prstGeom>
          <a:solidFill>
            <a:srgbClr val="123E48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480060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 근거기반 생성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132320" y="5166360"/>
            <a:ext cx="4142232" cy="329184"/>
          </a:xfrm>
          <a:prstGeom prst="roundRect">
            <a:avLst>
              <a:gd name="adj" fmla="val 16667"/>
            </a:avLst>
          </a:prstGeom>
          <a:solidFill>
            <a:srgbClr val="123E48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516636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 인용 검증 · 가드레일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132320" y="5532120"/>
            <a:ext cx="4142232" cy="329184"/>
          </a:xfrm>
          <a:prstGeom prst="roundRect">
            <a:avLst>
              <a:gd name="adj" fmla="val 16667"/>
            </a:avLst>
          </a:prstGeom>
          <a:solidFill>
            <a:srgbClr val="123E48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0" y="553212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 리뷰 큐 · 감사 로그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10896"/>
          </a:xfrm>
          <a:prstGeom prst="rect">
            <a:avLst/>
          </a:prstGeom>
          <a:solidFill>
            <a:srgbClr val="F25C54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C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특징 2 /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· 한국어 도달 · 측정 인프라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1672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57400"/>
            <a:ext cx="384048" cy="384048"/>
          </a:xfrm>
          <a:prstGeom prst="ellipse">
            <a:avLst/>
          </a:prstGeom>
          <a:solidFill>
            <a:srgbClr val="F25C54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9659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결정적 안전 게이트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09160" y="1947672"/>
            <a:ext cx="6702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 119 / 자살위기 109를 LLM을 거치지 않고 고정 템플릿으로 즉시 응답. 뇌졸중 구음장애·자살 완곡표현까지 분류.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61488"/>
            <a:ext cx="11091672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944368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28529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구어체 도달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9160" y="2834640"/>
            <a:ext cx="6702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‘머리아파’→두통 처럼 증상 표현을 증상명·동의어(99그룹)·형태소로 매칭. 진료과(15개)까지 안내.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48456"/>
            <a:ext cx="11091672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831336"/>
            <a:ext cx="384048" cy="384048"/>
          </a:xfrm>
          <a:prstGeom prst="ellipse">
            <a:avLst/>
          </a:prstGeom>
          <a:solidFill>
            <a:srgbClr val="12A4A4"/>
          </a:solidFill>
          <a:ln/>
        </p:spPr>
      </p:sp>
      <p:sp>
        <p:nvSpPr>
          <p:cNvPr id="15" name="Text 13"/>
          <p:cNvSpPr/>
          <p:nvPr/>
        </p:nvSpPr>
        <p:spPr>
          <a:xfrm>
            <a:off x="1417320" y="373989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인프라 (골든셋)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09160" y="3721608"/>
            <a:ext cx="6702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67케이스 오프라인 회귀 게이트. 안전 100% 필수로 CI 고정 — ‘측정 없는 개선 금지’.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535424"/>
            <a:ext cx="11091672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4718304"/>
            <a:ext cx="384048" cy="384048"/>
          </a:xfrm>
          <a:prstGeom prst="ellipse">
            <a:avLst/>
          </a:prstGeom>
          <a:solidFill>
            <a:srgbClr val="27D3B5"/>
          </a:solidFill>
          <a:ln/>
        </p:spPr>
      </p:sp>
      <p:sp>
        <p:nvSpPr>
          <p:cNvPr id="19" name="Text 17"/>
          <p:cNvSpPr/>
          <p:nvPr/>
        </p:nvSpPr>
        <p:spPr>
          <a:xfrm>
            <a:off x="1417320" y="462686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플라이휠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09160" y="4608576"/>
            <a:ext cx="6702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근거부족·미도달 질의를 수집 우선순위 큐로 환류. 사용자가 늘수록 KB가 수요에 맞게 두꺼워짐.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422392"/>
            <a:ext cx="11091672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5605272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1417320" y="55138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가능성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09160" y="5495544"/>
            <a:ext cx="6702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질의를 분류·근거품질·인용과 함께 기록. ‘왜 그렇게 답했는가’ 재현 가능 = B2B 진입권.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1089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의학 커버리지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다루는 의학 범위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532888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2532888" cy="914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38528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257860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01568" y="1783080"/>
            <a:ext cx="2532888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1568" y="1783080"/>
            <a:ext cx="2532888" cy="9144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11" name="Text 9"/>
          <p:cNvSpPr/>
          <p:nvPr/>
        </p:nvSpPr>
        <p:spPr>
          <a:xfrm>
            <a:off x="3401568" y="1938528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2A4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401568" y="257860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54496" y="1783080"/>
            <a:ext cx="2532888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54496" y="1783080"/>
            <a:ext cx="2532888" cy="91440"/>
          </a:xfrm>
          <a:prstGeom prst="rect">
            <a:avLst/>
          </a:prstGeom>
          <a:solidFill>
            <a:srgbClr val="27D3B5"/>
          </a:solidFill>
          <a:ln/>
        </p:spPr>
      </p:sp>
      <p:sp>
        <p:nvSpPr>
          <p:cNvPr id="15" name="Text 13"/>
          <p:cNvSpPr/>
          <p:nvPr/>
        </p:nvSpPr>
        <p:spPr>
          <a:xfrm>
            <a:off x="6254496" y="1938528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7D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254496" y="257860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KB 출처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07424" y="1783080"/>
            <a:ext cx="2532888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07424" y="1783080"/>
            <a:ext cx="2532888" cy="9144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9" name="Text 17"/>
          <p:cNvSpPr/>
          <p:nvPr/>
        </p:nvSpPr>
        <p:spPr>
          <a:xfrm>
            <a:off x="9107424" y="1938528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2A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107424" y="257860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동의어 그룹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진료과 (15)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795528" cy="384048"/>
          </a:xfrm>
          <a:prstGeom prst="roundRect">
            <a:avLst>
              <a:gd name="adj" fmla="val 50000"/>
            </a:avLst>
          </a:prstGeom>
          <a:solidFill>
            <a:srgbClr val="0B2E3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520440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내과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527048" y="3520440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0B2E36"/>
          </a:solidFill>
          <a:ln/>
        </p:spPr>
      </p:sp>
      <p:sp>
        <p:nvSpPr>
          <p:cNvPr id="25" name="Text 23"/>
          <p:cNvSpPr/>
          <p:nvPr/>
        </p:nvSpPr>
        <p:spPr>
          <a:xfrm>
            <a:off x="1527048" y="352044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신경과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697480" y="3520440"/>
            <a:ext cx="1179576" cy="384048"/>
          </a:xfrm>
          <a:prstGeom prst="roundRect">
            <a:avLst>
              <a:gd name="adj" fmla="val 50000"/>
            </a:avLst>
          </a:prstGeom>
          <a:solidFill>
            <a:srgbClr val="0B2E36"/>
          </a:solidFill>
          <a:ln/>
        </p:spPr>
      </p:sp>
      <p:sp>
        <p:nvSpPr>
          <p:cNvPr id="27" name="Text 25"/>
          <p:cNvSpPr/>
          <p:nvPr/>
        </p:nvSpPr>
        <p:spPr>
          <a:xfrm>
            <a:off x="2697480" y="3520440"/>
            <a:ext cx="1179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정형외과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059936" y="3520440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0B2E36"/>
          </a:solidFill>
          <a:ln/>
        </p:spPr>
      </p:sp>
      <p:sp>
        <p:nvSpPr>
          <p:cNvPr id="29" name="Text 27"/>
          <p:cNvSpPr/>
          <p:nvPr/>
        </p:nvSpPr>
        <p:spPr>
          <a:xfrm>
            <a:off x="4059936" y="352044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피부과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230368" y="35204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B2E36"/>
          </a:solidFill>
          <a:ln/>
        </p:spPr>
      </p:sp>
      <p:sp>
        <p:nvSpPr>
          <p:cNvPr id="31" name="Text 29"/>
          <p:cNvSpPr/>
          <p:nvPr/>
        </p:nvSpPr>
        <p:spPr>
          <a:xfrm>
            <a:off x="5230368" y="35204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이비인후과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784848" y="35204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B2E36"/>
          </a:solidFill>
          <a:ln/>
        </p:spPr>
      </p:sp>
      <p:sp>
        <p:nvSpPr>
          <p:cNvPr id="33" name="Text 31"/>
          <p:cNvSpPr/>
          <p:nvPr/>
        </p:nvSpPr>
        <p:spPr>
          <a:xfrm>
            <a:off x="6784848" y="35204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비뇨의학과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339328" y="3520440"/>
            <a:ext cx="795528" cy="384048"/>
          </a:xfrm>
          <a:prstGeom prst="roundRect">
            <a:avLst>
              <a:gd name="adj" fmla="val 50000"/>
            </a:avLst>
          </a:prstGeom>
          <a:solidFill>
            <a:srgbClr val="0B2E36"/>
          </a:solidFill>
          <a:ln/>
        </p:spPr>
      </p:sp>
      <p:sp>
        <p:nvSpPr>
          <p:cNvPr id="35" name="Text 33"/>
          <p:cNvSpPr/>
          <p:nvPr/>
        </p:nvSpPr>
        <p:spPr>
          <a:xfrm>
            <a:off x="8339328" y="3520440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안과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317736" y="3520440"/>
            <a:ext cx="1179576" cy="384048"/>
          </a:xfrm>
          <a:prstGeom prst="roundRect">
            <a:avLst>
              <a:gd name="adj" fmla="val 50000"/>
            </a:avLst>
          </a:prstGeom>
          <a:solidFill>
            <a:srgbClr val="0B2E36"/>
          </a:solidFill>
          <a:ln/>
        </p:spPr>
      </p:sp>
      <p:sp>
        <p:nvSpPr>
          <p:cNvPr id="37" name="Text 35"/>
          <p:cNvSpPr/>
          <p:nvPr/>
        </p:nvSpPr>
        <p:spPr>
          <a:xfrm>
            <a:off x="9317736" y="3520440"/>
            <a:ext cx="1179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산부인과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48640" y="402336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0B2E36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40233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정신건강의학과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487168" y="40233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B2E36"/>
          </a:solidFill>
          <a:ln/>
        </p:spPr>
      </p:sp>
      <p:sp>
        <p:nvSpPr>
          <p:cNvPr id="41" name="Text 39"/>
          <p:cNvSpPr/>
          <p:nvPr/>
        </p:nvSpPr>
        <p:spPr>
          <a:xfrm>
            <a:off x="2487168" y="4023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가정의학과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041648" y="40233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B2E36"/>
          </a:solidFill>
          <a:ln/>
        </p:spPr>
      </p:sp>
      <p:sp>
        <p:nvSpPr>
          <p:cNvPr id="43" name="Text 41"/>
          <p:cNvSpPr/>
          <p:nvPr/>
        </p:nvSpPr>
        <p:spPr>
          <a:xfrm>
            <a:off x="4041648" y="4023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재활의학과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596128" y="4023360"/>
            <a:ext cx="1563624" cy="384048"/>
          </a:xfrm>
          <a:prstGeom prst="roundRect">
            <a:avLst>
              <a:gd name="adj" fmla="val 50000"/>
            </a:avLst>
          </a:prstGeom>
          <a:solidFill>
            <a:srgbClr val="0B2E36"/>
          </a:solidFill>
          <a:ln/>
        </p:spPr>
      </p:sp>
      <p:sp>
        <p:nvSpPr>
          <p:cNvPr id="45" name="Text 43"/>
          <p:cNvSpPr/>
          <p:nvPr/>
        </p:nvSpPr>
        <p:spPr>
          <a:xfrm>
            <a:off x="5596128" y="402336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소아청소년과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7342632" y="4023360"/>
            <a:ext cx="795528" cy="384048"/>
          </a:xfrm>
          <a:prstGeom prst="roundRect">
            <a:avLst>
              <a:gd name="adj" fmla="val 50000"/>
            </a:avLst>
          </a:prstGeom>
          <a:solidFill>
            <a:srgbClr val="0B2E36"/>
          </a:solidFill>
          <a:ln/>
        </p:spPr>
      </p:sp>
      <p:sp>
        <p:nvSpPr>
          <p:cNvPr id="47" name="Text 45"/>
          <p:cNvSpPr/>
          <p:nvPr/>
        </p:nvSpPr>
        <p:spPr>
          <a:xfrm>
            <a:off x="7342632" y="4023360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치과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321040" y="4023360"/>
            <a:ext cx="795528" cy="384048"/>
          </a:xfrm>
          <a:prstGeom prst="roundRect">
            <a:avLst>
              <a:gd name="adj" fmla="val 50000"/>
            </a:avLst>
          </a:prstGeom>
          <a:solidFill>
            <a:srgbClr val="0B2E36"/>
          </a:solidFill>
          <a:ln/>
        </p:spPr>
      </p:sp>
      <p:sp>
        <p:nvSpPr>
          <p:cNvPr id="49" name="Text 47"/>
          <p:cNvSpPr/>
          <p:nvPr/>
        </p:nvSpPr>
        <p:spPr>
          <a:xfrm>
            <a:off x="8321040" y="4023360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외과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299448" y="40233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B2E36"/>
          </a:solidFill>
          <a:ln/>
        </p:spPr>
      </p:sp>
      <p:sp>
        <p:nvSpPr>
          <p:cNvPr id="51" name="Text 49"/>
          <p:cNvSpPr/>
          <p:nvPr/>
        </p:nvSpPr>
        <p:spPr>
          <a:xfrm>
            <a:off x="9299448" y="4023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응급의학과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48640" y="5029200"/>
            <a:ext cx="11091672" cy="1280160"/>
          </a:xfrm>
          <a:prstGeom prst="rect">
            <a:avLst/>
          </a:prstGeom>
          <a:solidFill>
            <a:srgbClr val="0B2E36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914400" y="523036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D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지식베이스 출처 (공공누리·퍼블릭도메인)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14400" y="5559552"/>
            <a:ext cx="10360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E5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질병관리청 국가건강정보포털 · 감염병 · 예방접종(NIP)  |  식약처 의약품안전(DUR·e약은요)  |  심평원(HIRA)  |  응급의료포털(NEMC)  |  공인 참조범위(혈압·혈당·SpO2·공기질)  |  생애주기(암·정신·임신·노인·만성질환)  |  의료이용 안내(진료과·검진·건강보험)  |  중독·소아 응급  |  법령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1089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성과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골든셋 오프라인 평가 — 전 차원 100%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6035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858000" y="187452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케이스: “나 머리아파”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2377440"/>
            <a:ext cx="4782312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0" y="2377440"/>
            <a:ext cx="109728" cy="1417320"/>
          </a:xfrm>
          <a:prstGeom prst="rect">
            <a:avLst/>
          </a:prstGeom>
          <a:solidFill>
            <a:srgbClr val="F25C54"/>
          </a:solidFill>
          <a:ln/>
        </p:spPr>
      </p:sp>
      <p:sp>
        <p:nvSpPr>
          <p:cNvPr id="9" name="Text 6"/>
          <p:cNvSpPr/>
          <p:nvPr/>
        </p:nvSpPr>
        <p:spPr>
          <a:xfrm>
            <a:off x="7178040" y="251460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5C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223760" y="2834640"/>
            <a:ext cx="4142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 매칭 실패 → 두통 미도달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red-flag 부스트·진료과 안내 미발동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부족 응답으로 종료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0" y="3977640"/>
            <a:ext cx="4782312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58000" y="3977640"/>
            <a:ext cx="109728" cy="1600200"/>
          </a:xfrm>
          <a:prstGeom prst="rect">
            <a:avLst/>
          </a:prstGeom>
          <a:solidFill>
            <a:srgbClr val="27D3B5"/>
          </a:solidFill>
          <a:ln/>
        </p:spPr>
      </p:sp>
      <p:sp>
        <p:nvSpPr>
          <p:cNvPr id="13" name="Text 10"/>
          <p:cNvSpPr/>
          <p:nvPr/>
        </p:nvSpPr>
        <p:spPr>
          <a:xfrm>
            <a:off x="7178040" y="411480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223760" y="4434840"/>
            <a:ext cx="4142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두통 도달 → 신경과 진료과 안내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red-flag·문진 체크리스트 발동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구어체·띄어쓰기 변형까지 도달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1089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MOAT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LLM이 구조적으로 따라올 수 없는 것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83864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D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679192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레일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081528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의료 마이데이터·DUR·공공 KB는 국내 법인·심사를 요구. 글로벌 단일 제품 논리와 충돌.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72584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D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72584" y="2679192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‘보장’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72584" y="3081528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확률적 언급이 아니라 인용 없는 의학 claim은 출고 차단. 범용 챗봇 UX와 상충해 채택 어려움.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56448" y="1965960"/>
            <a:ext cx="3483864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76488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D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76488" y="2679192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컴플라이언스 아키텍처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476488" y="3081528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의료법 경계를 프롬프트가 아닌 코드 게이트로 통제. 시장별 법적 책임 인수를 빅테크는 회피.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3483864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4251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D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8680" y="4736592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가능성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68680" y="5138928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재현·추적 가능 = 보험사·검진기관·지자체 조달의 전제. 폐쇄형 API로는 불가.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72584" y="4251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D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72584" y="4736592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프라이버시 설계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672584" y="5138928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원시 의료데이터를 외부 모델에 그대로 넘기지 않는 신뢰 포지션. 빅테크의 데이터 흡수 모델과 반대.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56448" y="4023360"/>
            <a:ext cx="3483864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76488" y="4251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D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476488" y="4736592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플라이휠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476488" y="5138928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사용자의 실제 질문에 최적화되는 운영 해자. 모델 세대교체로 무력화되지 않음.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1089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FLYWHEEL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평가가 수집을 견인하는 데이터 플라이휠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질문이 늘수록 ‘무엇이 부족한지’가 데이터로 쌓이고, 그 신호가 다음 커버리지 확장을 자동으로 정한다.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852574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09167" y="3017520"/>
            <a:ext cx="731520" cy="7315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1109167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904488"/>
            <a:ext cx="1669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 · 응답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288536"/>
            <a:ext cx="1669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rag_queries 감사 로그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37790" y="347472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A4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858414" y="2697480"/>
            <a:ext cx="1852574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18942" y="3017520"/>
            <a:ext cx="731520" cy="731520"/>
          </a:xfrm>
          <a:prstGeom prst="ellipse">
            <a:avLst/>
          </a:prstGeom>
          <a:solidFill>
            <a:srgbClr val="F25C54"/>
          </a:solidFill>
          <a:ln/>
        </p:spPr>
      </p:sp>
      <p:sp>
        <p:nvSpPr>
          <p:cNvPr id="14" name="Text 12"/>
          <p:cNvSpPr/>
          <p:nvPr/>
        </p:nvSpPr>
        <p:spPr>
          <a:xfrm>
            <a:off x="3418942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949854" y="3904488"/>
            <a:ext cx="1669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갭 분석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49854" y="4288536"/>
            <a:ext cx="1669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근거부족·미도달 질의 집계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47565" y="347472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A4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168189" y="2697480"/>
            <a:ext cx="1852574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28716" y="3017520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0" name="Text 18"/>
          <p:cNvSpPr/>
          <p:nvPr/>
        </p:nvSpPr>
        <p:spPr>
          <a:xfrm>
            <a:off x="5728716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259629" y="3904488"/>
            <a:ext cx="1669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 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9629" y="4288536"/>
            <a:ext cx="1669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커버리지 확장 우선순위 산출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57339" y="347472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A4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477963" y="2697480"/>
            <a:ext cx="1852574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38490" y="3017520"/>
            <a:ext cx="731520" cy="731520"/>
          </a:xfrm>
          <a:prstGeom prst="ellipse">
            <a:avLst/>
          </a:prstGeom>
          <a:solidFill>
            <a:srgbClr val="27D3B5"/>
          </a:solidFill>
          <a:ln/>
        </p:spPr>
      </p:sp>
      <p:sp>
        <p:nvSpPr>
          <p:cNvPr id="26" name="Text 24"/>
          <p:cNvSpPr/>
          <p:nvPr/>
        </p:nvSpPr>
        <p:spPr>
          <a:xfrm>
            <a:off x="803849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569403" y="3904488"/>
            <a:ext cx="1669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KB · 증상 확장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69403" y="4288536"/>
            <a:ext cx="1669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 기반 큐레이션 수집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367114" y="347472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A4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787738" y="2697480"/>
            <a:ext cx="1852574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348265" y="3017520"/>
            <a:ext cx="731520" cy="731520"/>
          </a:xfrm>
          <a:prstGeom prst="ellipse">
            <a:avLst/>
          </a:prstGeom>
          <a:solidFill>
            <a:srgbClr val="12A4A4"/>
          </a:solidFill>
          <a:ln/>
        </p:spPr>
      </p:sp>
      <p:sp>
        <p:nvSpPr>
          <p:cNvPr id="32" name="Text 30"/>
          <p:cNvSpPr/>
          <p:nvPr/>
        </p:nvSpPr>
        <p:spPr>
          <a:xfrm>
            <a:off x="10348265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9879178" y="3904488"/>
            <a:ext cx="1669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골든셋 회귀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879178" y="4288536"/>
            <a:ext cx="1669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개선을 수치로 검증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21208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B2E36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521208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D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↻  순환: 5 → 1  골든셋 통과로 개선이 확인되면 다시 운영 데이터로 — 모델 교체와 무관하게 누적되는 운영 해자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1089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발전해 어떤 문제를 풀 것인가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83864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3483864" cy="8686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12264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단기 (0–6개월)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품질 본격화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279806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Kiwi 형태소로 도달률 추가 상향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멀티턴 대화 문맥화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학습형 리랭커 + 골든셋 250 확장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 검수 리뷰보드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52544" y="1965960"/>
            <a:ext cx="3483864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52544" y="1965960"/>
            <a:ext cx="3483864" cy="868680"/>
          </a:xfrm>
          <a:prstGeom prst="rect">
            <a:avLst/>
          </a:prstGeom>
          <a:solidFill>
            <a:srgbClr val="F25C54"/>
          </a:solidFill>
          <a:ln/>
        </p:spPr>
      </p:sp>
      <p:sp>
        <p:nvSpPr>
          <p:cNvPr id="12" name="Text 10"/>
          <p:cNvSpPr/>
          <p:nvPr/>
        </p:nvSpPr>
        <p:spPr>
          <a:xfrm>
            <a:off x="4672584" y="2112264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중기 (6–12개월)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72584" y="242316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 — 진짜 차별화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718304" y="3063240"/>
            <a:ext cx="279806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생체신호·PHR·집안 공기질 융합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복용약 × DUR 교차 안내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엔진이 해석, LLM은 서술([R#])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동의·프라이버시 아키텍처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56448" y="1965960"/>
            <a:ext cx="3483864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56448" y="1965960"/>
            <a:ext cx="3483864" cy="86868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17" name="Text 15"/>
          <p:cNvSpPr/>
          <p:nvPr/>
        </p:nvSpPr>
        <p:spPr>
          <a:xfrm>
            <a:off x="8476488" y="2112264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(12개월+)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76488" y="242316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— 시장·규모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522208" y="3063240"/>
            <a:ext cx="279806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SaMD(의료기기) 경계 설계·인증 대비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글로벌: 한국 → 일본 → 영어권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B2B(검진·보험·지자체) — 감사 기반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다국어 임베딩·교차언어 검색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1089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웰니스(비의료기기) 포지션 + 규제 전략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5394960" cy="5486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20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— 정보 제공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공인 출처 인용 건강정보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측정값의 공인 기준 범위 ‘대조 표시’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DUR 등재 ‘사실’ + 상담 권유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 의심 시 119 안내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진료과 · 의료 이용 내비게이션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3949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2E3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920240"/>
            <a:ext cx="5394960" cy="548640"/>
          </a:xfrm>
          <a:prstGeom prst="rect">
            <a:avLst/>
          </a:prstGeom>
          <a:solidFill>
            <a:srgbClr val="F25C54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920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 — 의료행위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265176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✕"/>
            </a:pPr>
            <a:r>
              <a:rPr lang="en-US" sz="1350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질병 진단 · 병명 단정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✕"/>
            </a:pPr>
            <a:r>
              <a:rPr lang="en-US" sz="1350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복용 · 용량 지시/변경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✕"/>
            </a:pPr>
            <a:r>
              <a:rPr lang="en-US" sz="1350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알고리즘 위험도 점수/트리아지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✕"/>
            </a:pPr>
            <a:r>
              <a:rPr lang="en-US" sz="1350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‘응급 아님’ 안심 단정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✕"/>
            </a:pPr>
            <a:r>
              <a:rPr lang="en-US" sz="1350" dirty="0">
                <a:solidFill>
                  <a:srgbClr val="0B2E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치료효과 보장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1264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진출 순서:  </a:t>
            </a:r>
            <a:pPr indent="0" marL="0">
              <a:buNone/>
            </a:pPr>
            <a:r>
              <a:rPr lang="en-US" sz="125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한국(레일·KB 보유) → 일본(비해당 기준 명문화) → 영어권(PD 콘텐츠 파일럿) → EU(규제 정비 후)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108960"/>
            <a:ext cx="5669280" cy="5669280"/>
          </a:xfrm>
          <a:prstGeom prst="ellipse">
            <a:avLst/>
          </a:prstGeom>
          <a:solidFill>
            <a:srgbClr val="123E48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4206240"/>
            <a:ext cx="2926080" cy="2926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7D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푸는 문제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 정보의 비대칭을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안전하게 좁힌다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9E5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“진단 대신 길 안내” — 환자가 가장 먼저 만나는, 출처가 보장되고 의료법을 지키는 1차 건강 안내. 그리고 개인 데이터가 더해질수록 범용 LLM이 줄 수 없는 ‘내 상황의 근거’로 진화한다.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892040"/>
            <a:ext cx="3383280" cy="1143000"/>
          </a:xfrm>
          <a:prstGeom prst="rect">
            <a:avLst/>
          </a:prstGeom>
          <a:solidFill>
            <a:srgbClr val="123E48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029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D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측정된 기반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4132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9E5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56증상·100% 안전게이트·감사 가능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4892040"/>
            <a:ext cx="3383280" cy="1143000"/>
          </a:xfrm>
          <a:prstGeom prst="rect">
            <a:avLst/>
          </a:prstGeom>
          <a:solidFill>
            <a:srgbClr val="123E48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5029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D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분명한 해자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54132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9E5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레일 + 운영 데이터 플라이휠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0" y="4892040"/>
            <a:ext cx="3383280" cy="1143000"/>
          </a:xfrm>
          <a:prstGeom prst="rect">
            <a:avLst/>
          </a:prstGeom>
          <a:solidFill>
            <a:srgbClr val="123E48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5029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D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경로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54132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9E5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 → SaMD → 글로벌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근거 기반 개인화 의료정보 AI — 투자 제안</dc:title>
  <dc:subject>PptxGenJS Presentation</dc:subject>
  <dc:creator>medical-rag-service</dc:creator>
  <cp:lastModifiedBy>medical-rag-service</cp:lastModifiedBy>
  <cp:revision>1</cp:revision>
  <dcterms:created xsi:type="dcterms:W3CDTF">2026-06-11T02:37:14Z</dcterms:created>
  <dcterms:modified xsi:type="dcterms:W3CDTF">2026-06-11T02:37:14Z</dcterms:modified>
</cp:coreProperties>
</file>