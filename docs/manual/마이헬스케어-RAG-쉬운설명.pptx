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CFE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비전공자용 안내 자료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04672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EF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마이헬스케어 RAG,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EF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쉽게 이해하기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‘아는 척’으로 지어내지 않고 — 믿을 자료를 찾아 답하는 AI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7406640" cy="658368"/>
          </a:xfrm>
          <a:prstGeom prst="roundRect">
            <a:avLst>
              <a:gd name="adj" fmla="val 50000"/>
            </a:avLst>
          </a:prstGeom>
          <a:solidFill>
            <a:srgbClr val="0E8A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89204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EF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찾아보고(Retrieval)   →   근거로만 답한다(Generation)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RAG가 뭔가요?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한마디로, ‘도서관 사서’ 같은 AI입니다.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80076" cy="3063240"/>
          </a:xfrm>
          <a:prstGeom prst="roundRect">
            <a:avLst>
              <a:gd name="adj" fmla="val 2985"/>
            </a:avLst>
          </a:prstGeom>
          <a:solidFill>
            <a:srgbClr val="F7ECE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75688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답하는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5399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모르면 그럴듯하게 지어냅니다.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 = 환각 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없어 믿기 어렵습니다.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68796" y="1783080"/>
            <a:ext cx="5180076" cy="3063240"/>
          </a:xfrm>
          <a:prstGeom prst="roundRect">
            <a:avLst>
              <a:gd name="adj" fmla="val 2985"/>
            </a:avLst>
          </a:prstGeom>
          <a:solidFill>
            <a:srgbClr val="E7F2EE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88836" y="2075688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— 우리 방식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88836" y="2743200"/>
            <a:ext cx="45399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믿을 자료를 먼저 찾고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그 근거로만 답하고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출처까지 보여줍니다.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사서가 책을 펼쳐 확인하고, 몇 페이지에서 봤는지까지 알려주는 것과 같아요.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의료 서비스엔 RAG가 ‘필수’인가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3146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의료법 준수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진단·처방을 할 수 없습니다. 정보 안내만 가능합니다.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28744" y="1828800"/>
            <a:ext cx="333146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48784" y="2194560"/>
            <a:ext cx="566928" cy="56692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4748784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48784" y="297180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48784" y="352044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의학 정보는 사람을 다치게 합니다. 추측은 금물입니다.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17408" y="1828800"/>
            <a:ext cx="333146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37448" y="2194560"/>
            <a:ext cx="566928" cy="566928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15" name="Text 13"/>
          <p:cNvSpPr/>
          <p:nvPr/>
        </p:nvSpPr>
        <p:spPr>
          <a:xfrm>
            <a:off x="8537448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37448" y="297180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37448" y="352044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답에 근거와 출처를 답니다. 못 믿을 답은 내지 않습니다.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흐름은 딱 2단계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4951476" cy="2651760"/>
          </a:xfrm>
          <a:prstGeom prst="roundRect">
            <a:avLst>
              <a:gd name="adj" fmla="val 3448"/>
            </a:avLst>
          </a:prstGeom>
          <a:solidFill>
            <a:srgbClr val="E7F2EE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2194560"/>
            <a:ext cx="4219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준비 (평소)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880360"/>
            <a:ext cx="42199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수 있는 자료로 ‘지식창고’를 미리 만들어 둡니다.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97396" y="1783080"/>
            <a:ext cx="495147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63156" y="2194560"/>
            <a:ext cx="4219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응답 (실시간)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63156" y="2880360"/>
            <a:ext cx="42199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오면 창고에서 근거를 찾아 안전하게 답합니다.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56148" y="3108960"/>
            <a:ext cx="676656" cy="0"/>
          </a:xfrm>
          <a:prstGeom prst="line">
            <a:avLst/>
          </a:prstGeom>
          <a:noFill/>
          <a:ln w="28575">
            <a:solidFill>
              <a:srgbClr val="AEBAB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19756" y="4983480"/>
            <a:ext cx="6949440" cy="713232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11" name="Text 9"/>
          <p:cNvSpPr/>
          <p:nvPr/>
        </p:nvSpPr>
        <p:spPr>
          <a:xfrm>
            <a:off x="2619756" y="498348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답하기 전에 반드시 ‘찾아본다’.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‘지식창고(KB)’ 만들기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2148840"/>
            <a:ext cx="2452878" cy="2743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2441448"/>
            <a:ext cx="512064" cy="512064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441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7824" y="31089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출처 수집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77824" y="3611880"/>
            <a:ext cx="19956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식약처·질병청 등 공식 자료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47822" y="3520440"/>
            <a:ext cx="256032" cy="0"/>
          </a:xfrm>
          <a:prstGeom prst="line">
            <a:avLst/>
          </a:prstGeom>
          <a:noFill/>
          <a:ln w="28575">
            <a:solidFill>
              <a:srgbClr val="AEBAB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58718" y="2148840"/>
            <a:ext cx="2452878" cy="2743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14750" y="2441448"/>
            <a:ext cx="512064" cy="512064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11" name="Text 9"/>
          <p:cNvSpPr/>
          <p:nvPr/>
        </p:nvSpPr>
        <p:spPr>
          <a:xfrm>
            <a:off x="3714750" y="2441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96462" y="31089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잘게 자르기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96462" y="3611880"/>
            <a:ext cx="19956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문단·표 단위로 나눔 (청킹)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66460" y="3520440"/>
            <a:ext cx="256032" cy="0"/>
          </a:xfrm>
          <a:prstGeom prst="line">
            <a:avLst/>
          </a:prstGeom>
          <a:noFill/>
          <a:ln w="28575">
            <a:solidFill>
              <a:srgbClr val="AEBAB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77356" y="2148840"/>
            <a:ext cx="2452878" cy="2743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3388" y="2441448"/>
            <a:ext cx="512064" cy="512064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17" name="Text 15"/>
          <p:cNvSpPr/>
          <p:nvPr/>
        </p:nvSpPr>
        <p:spPr>
          <a:xfrm>
            <a:off x="6533388" y="2441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5100" y="31089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의미를 숫자로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15100" y="3611880"/>
            <a:ext cx="19956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글을 찾게 변환 (임베딩)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85098" y="3520440"/>
            <a:ext cx="256032" cy="0"/>
          </a:xfrm>
          <a:prstGeom prst="line">
            <a:avLst/>
          </a:prstGeom>
          <a:noFill/>
          <a:ln w="28575">
            <a:solidFill>
              <a:srgbClr val="AEBAB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5994" y="2148840"/>
            <a:ext cx="2452878" cy="2743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52026" y="2441448"/>
            <a:ext cx="512064" cy="512064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23" name="Text 21"/>
          <p:cNvSpPr/>
          <p:nvPr/>
        </p:nvSpPr>
        <p:spPr>
          <a:xfrm>
            <a:off x="9352026" y="2441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33738" y="31089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지식창고에 색인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33738" y="3611880"/>
            <a:ext cx="19956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가능한 형태로 저장 (KB)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질문이 오면 (1/2) : 찾기까지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18007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05740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질문 이해·분류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60120" y="265176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응급인가? 약 질문인가? 위험도는 어느 정도인가?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68796" y="1737360"/>
            <a:ext cx="518007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88836" y="205740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지식창고 검색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88836" y="265176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비슷한 글 + 같은 단어가 있는 글을 동시에 (하이브리드)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0908792" cy="2148840"/>
          </a:xfrm>
          <a:prstGeom prst="roundRect">
            <a:avLst>
              <a:gd name="adj" fmla="val 4255"/>
            </a:avLst>
          </a:prstGeom>
          <a:solidFill>
            <a:srgbClr val="E7F2EE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4087368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근거가 충분한가? — 안전 게이트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4873752"/>
            <a:ext cx="146304" cy="146304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727448"/>
            <a:ext cx="9720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충분하면  →  답변 단계로 진행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097280" y="5422392"/>
            <a:ext cx="146304" cy="146304"/>
          </a:xfrm>
          <a:prstGeom prst="ellipse">
            <a:avLst/>
          </a:prstGeom>
          <a:solidFill>
            <a:srgbClr val="E0A23E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5276088"/>
            <a:ext cx="9720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부족하면  →  ‘근거 부족’을 솔직히 알리고, 진료과·병원을 안내 (지어내지 않음)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질문이 오면 (2/2) : 답하기까지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180076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05740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검토 자료 묶기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60120" y="2651760"/>
            <a:ext cx="4539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근거만 모읍니다 (8개 이내로 정리).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68796" y="1737360"/>
            <a:ext cx="5180076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88836" y="205740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AI가 답 작성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88836" y="2651760"/>
            <a:ext cx="4539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근거만 사용하고, 문장마다 [출처]를 답니다.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5180076" cy="2057400"/>
          </a:xfrm>
          <a:prstGeom prst="roundRect">
            <a:avLst>
              <a:gd name="adj" fmla="val 4444"/>
            </a:avLst>
          </a:prstGeom>
          <a:solidFill>
            <a:srgbClr val="F7ECE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448056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안전 검사 (가드레일)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0120" y="5074920"/>
            <a:ext cx="4539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진단·처방·응급 오판이 있으면 → 다시 생성.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68796" y="4160520"/>
            <a:ext cx="5180076" cy="2057400"/>
          </a:xfrm>
          <a:prstGeom prst="roundRect">
            <a:avLst>
              <a:gd name="adj" fmla="val 4444"/>
            </a:avLst>
          </a:prstGeom>
          <a:solidFill>
            <a:srgbClr val="E7F2EE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88836" y="448056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최종 답변 전달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688836" y="5074920"/>
            <a:ext cx="4539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면책 문구 + (동의 시) 개인 맞춤 안내를 붙여 전달.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안전을 위해 특별히 더한 3가지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3146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게이트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691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약하면 멈추고 안내로 전환합니다. → 환각 차단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28744" y="1828800"/>
            <a:ext cx="333146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48784" y="2194560"/>
            <a:ext cx="566928" cy="56692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4748784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48784" y="297180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가드레일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48784" y="3520440"/>
            <a:ext cx="2691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답도 위험하면 폐기하고 다시 생성합니다.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17408" y="1828800"/>
            <a:ext cx="333146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37448" y="2194560"/>
            <a:ext cx="566928" cy="566928"/>
          </a:xfrm>
          <a:prstGeom prst="ellipse">
            <a:avLst/>
          </a:prstGeom>
          <a:solidFill>
            <a:srgbClr val="E0A23E"/>
          </a:solidFill>
          <a:ln/>
        </p:spPr>
      </p:sp>
      <p:sp>
        <p:nvSpPr>
          <p:cNvPr id="15" name="Text 13"/>
          <p:cNvSpPr/>
          <p:nvPr/>
        </p:nvSpPr>
        <p:spPr>
          <a:xfrm>
            <a:off x="8537448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37448" y="297180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경계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37448" y="3520440"/>
            <a:ext cx="2691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혈압 같은 원시 수치는 AI에 직접 넣지 않고 ‘주의·경고’ 라벨로만 다룹니다.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보면 좋은 용어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167128"/>
            <a:ext cx="5134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찾아본 뒤(검색) 답을 만드는(생성) 방식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862072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5134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문서를 검색하기 좋게 잘게 자르기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941064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임베딩·벡터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325112"/>
            <a:ext cx="5134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글의 ‘의미’를 숫자로 바꿔 비슷한 글을 찾는 기술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020056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검색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404104"/>
            <a:ext cx="5134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검색 + 단어 검색을 함께 사용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14516" y="1783080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14516" y="2167128"/>
            <a:ext cx="5134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충분한지 판정하는 관문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14516" y="2862072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가드레일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14516" y="3246120"/>
            <a:ext cx="5134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답을 안전 기준으로 다시 검사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14516" y="3941064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4516" y="4325112"/>
            <a:ext cx="5134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근거 없이 그럴듯하게 지어내는 현상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14516" y="5020056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 (지식창고)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4516" y="5404104"/>
            <a:ext cx="5134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자료를 모아둔 검색용 저장소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5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3EF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없으면,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3EF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답하지 않습니다.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41248" y="41148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= 찾아보고 · 근거 있을 때만 · 출처를 달아 답하고 · 없으면 솔직히 물러서는 AI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FC9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마이헬스케어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마이헬스케어 RAG, 쉽게 이해하기</dc:title>
  <dc:subject>PptxGenJS Presentation</dc:subject>
  <dc:creator>마이헬스케어</dc:creator>
  <cp:lastModifiedBy>마이헬스케어</cp:lastModifiedBy>
  <cp:revision>1</cp:revision>
  <dcterms:created xsi:type="dcterms:W3CDTF">2026-06-24T14:12:15Z</dcterms:created>
  <dcterms:modified xsi:type="dcterms:W3CDTF">2026-06-24T14:12:15Z</dcterms:modified>
</cp:coreProperties>
</file>